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87481" autoAdjust="0"/>
  </p:normalViewPr>
  <p:slideViewPr>
    <p:cSldViewPr snapToGrid="0" snapToObjects="1">
      <p:cViewPr varScale="1">
        <p:scale>
          <a:sx n="74" d="100"/>
          <a:sy n="74" d="100"/>
        </p:scale>
        <p:origin x="159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D7645-D588-4420-AEAC-0B3F80BBD0AE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E14FF-8E53-4907-9F05-FAD967E417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86956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E14FF-8E53-4907-9F05-FAD967E417EA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05947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F192A"/>
          </a:solidFill>
          <a:ln>
            <a:solidFill>
              <a:srgbClr val="6F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6F192A"/>
          </a:solidFill>
          <a:ln>
            <a:solidFill>
              <a:srgbClr val="6F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6F192A"/>
                </a:solidFill>
                <a:latin typeface="Aptos"/>
              </a:rPr>
              <a:t>UNIVERSIDAD NACIONAL MAYOR DE SAN MARCOS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52928"/>
            <a:ext cx="8503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0913D"/>
                </a:solidFill>
                <a:latin typeface="Aptos"/>
              </a:rPr>
              <a:t>Universidad del Perú · Decana de América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392295"/>
            <a:ext cx="8549640" cy="36576"/>
          </a:xfrm>
          <a:prstGeom prst="rect">
            <a:avLst/>
          </a:prstGeom>
          <a:solidFill>
            <a:srgbClr val="B0913D"/>
          </a:solidFill>
          <a:ln>
            <a:solidFill>
              <a:srgbClr val="B09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3650517"/>
            <a:ext cx="8549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dirty="0">
                <a:solidFill>
                  <a:srgbClr val="192D41"/>
                </a:solidFill>
                <a:latin typeface="Aptos"/>
              </a:rPr>
              <a:t>METHOD-FIT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29096"/>
            <a:ext cx="8549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 dirty="0">
                <a:solidFill>
                  <a:srgbClr val="262D34"/>
                </a:solidFill>
                <a:latin typeface="Aptos"/>
              </a:rPr>
              <a:t>Research Methods for AI and Advanced 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736592"/>
            <a:ext cx="8549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dirty="0">
                <a:solidFill>
                  <a:srgbClr val="192D41"/>
                </a:solidFill>
                <a:latin typeface="Aptos"/>
              </a:rPr>
              <a:t>Moisés Evangelista Gamarra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138928"/>
            <a:ext cx="8549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62D34"/>
                </a:solidFill>
                <a:latin typeface="Aptos"/>
              </a:rPr>
              <a:t>Doctorado en Tecnologías Profundas · UNMSM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504688"/>
            <a:ext cx="8549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62D34"/>
                </a:solidFill>
                <a:latin typeface="Aptos"/>
              </a:rPr>
              <a:t>Septiembre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6510528"/>
            <a:ext cx="8549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SESSION 2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D93561ED-10E3-8360-E396-82A037FA9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161" y="249174"/>
            <a:ext cx="2082546" cy="20825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192A"/>
          </a:solidFill>
          <a:ln>
            <a:solidFill>
              <a:srgbClr val="6F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9966"/>
            <a:ext cx="111556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dirty="0"/>
              <a:t>METHOD-FIT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Section 2 + Section 3 of the Student Workbook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201400" cy="713232"/>
          </a:xfrm>
          <a:prstGeom prst="roundRect">
            <a:avLst/>
          </a:prstGeom>
          <a:solidFill>
            <a:srgbClr val="FAF4E1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F192A"/>
                </a:solidFill>
                <a:latin typeface="Aptos"/>
              </a:rPr>
              <a:t>Research question: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4831" y="1161288"/>
            <a:ext cx="9372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92D41"/>
                </a:solidFill>
                <a:latin typeface="Aptos"/>
              </a:rPr>
              <a:t>To what extent does a reproducible Trustworthy AI Framework improve the reliability and traceability of traffic-flow forecasting compared with a conventional experimental workflow using open data from Peru’s National Road Network?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93392"/>
            <a:ext cx="2423160" cy="393192"/>
          </a:xfrm>
          <a:prstGeom prst="rect">
            <a:avLst/>
          </a:prstGeom>
          <a:solidFill>
            <a:srgbClr val="192D41"/>
          </a:solidFill>
          <a:ln>
            <a:solidFill>
              <a:srgbClr val="19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2029968"/>
            <a:ext cx="23682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Criterion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993392"/>
            <a:ext cx="594360" cy="393192"/>
          </a:xfrm>
          <a:prstGeom prst="rect">
            <a:avLst/>
          </a:prstGeom>
          <a:solidFill>
            <a:srgbClr val="192D41"/>
          </a:solidFill>
          <a:ln>
            <a:solidFill>
              <a:srgbClr val="19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53512" y="2029968"/>
            <a:ext cx="5394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1993392"/>
            <a:ext cx="1508760" cy="393192"/>
          </a:xfrm>
          <a:prstGeom prst="rect">
            <a:avLst/>
          </a:prstGeom>
          <a:solidFill>
            <a:srgbClr val="192D41"/>
          </a:solidFill>
          <a:ln>
            <a:solidFill>
              <a:srgbClr val="19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1" y="2029968"/>
            <a:ext cx="14538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Experimental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993392"/>
            <a:ext cx="1508760" cy="393192"/>
          </a:xfrm>
          <a:prstGeom prst="rect">
            <a:avLst/>
          </a:prstGeom>
          <a:solidFill>
            <a:srgbClr val="192D41"/>
          </a:solidFill>
          <a:ln>
            <a:solidFill>
              <a:srgbClr val="19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56632" y="2029968"/>
            <a:ext cx="145389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Case Study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59" y="1993392"/>
            <a:ext cx="1645920" cy="393192"/>
          </a:xfrm>
          <a:prstGeom prst="rect">
            <a:avLst/>
          </a:prstGeom>
          <a:solidFill>
            <a:srgbClr val="192D41"/>
          </a:solidFill>
          <a:ln>
            <a:solidFill>
              <a:srgbClr val="19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5392" y="2029968"/>
            <a:ext cx="15910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Design Science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1993392"/>
            <a:ext cx="3611880" cy="393192"/>
          </a:xfrm>
          <a:prstGeom prst="rect">
            <a:avLst/>
          </a:prstGeom>
          <a:solidFill>
            <a:srgbClr val="192D41"/>
          </a:solidFill>
          <a:ln>
            <a:solidFill>
              <a:srgbClr val="19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029968"/>
            <a:ext cx="3557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Why this 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386584"/>
            <a:ext cx="24231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6" y="2418588"/>
            <a:ext cx="235000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62D34"/>
                </a:solidFill>
                <a:latin typeface="Aptos"/>
              </a:rPr>
              <a:t>E · Epistemological fit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386584"/>
            <a:ext cx="5943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62656" y="2418588"/>
            <a:ext cx="52120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39" y="2386584"/>
            <a:ext cx="15087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57015" y="2418588"/>
            <a:ext cx="1435607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4/5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386584"/>
            <a:ext cx="15087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65776" y="2418588"/>
            <a:ext cx="1435607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2/5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59" y="2386584"/>
            <a:ext cx="16459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74536" y="2418588"/>
            <a:ext cx="157276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5/5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2386584"/>
            <a:ext cx="36118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0456" y="2418588"/>
            <a:ext cx="353872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262D34"/>
                </a:solidFill>
                <a:latin typeface="Aptos"/>
              </a:rPr>
              <a:t>Experimental fits the empirical comparison; Case Study has limited fit; Design Science directly fits the artifact-centered paradigm.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898648"/>
            <a:ext cx="2423160" cy="512064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9496" y="2930652"/>
            <a:ext cx="235000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62D34"/>
                </a:solidFill>
                <a:latin typeface="Aptos"/>
              </a:rPr>
              <a:t>D · Data availability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2898648"/>
            <a:ext cx="594360" cy="512064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62656" y="2930652"/>
            <a:ext cx="52120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39" y="2898648"/>
            <a:ext cx="1508760" cy="512064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57015" y="2930652"/>
            <a:ext cx="1435607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5/5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2898648"/>
            <a:ext cx="1508760" cy="512064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65776" y="2930652"/>
            <a:ext cx="1435607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3/5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59" y="2898648"/>
            <a:ext cx="1645920" cy="512064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74536" y="2930652"/>
            <a:ext cx="157276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5/5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80" y="2898648"/>
            <a:ext cx="3611880" cy="512064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0456" y="2930652"/>
            <a:ext cx="353872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262D34"/>
                </a:solidFill>
                <a:latin typeface="Aptos"/>
              </a:rPr>
              <a:t>Official MTC open traffic-flow data are available; Case Study additionally requires bounded case/contextual access.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410712"/>
            <a:ext cx="24231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9496" y="3442716"/>
            <a:ext cx="235000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62D34"/>
                </a:solidFill>
                <a:latin typeface="Aptos"/>
              </a:rPr>
              <a:t>F · Feasibility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3410712"/>
            <a:ext cx="5943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962656" y="3442716"/>
            <a:ext cx="52120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39" y="3410712"/>
            <a:ext cx="15087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557015" y="3442716"/>
            <a:ext cx="1435607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5/5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3410712"/>
            <a:ext cx="15087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65776" y="3442716"/>
            <a:ext cx="1435607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4/5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59" y="3410712"/>
            <a:ext cx="16459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74536" y="3442716"/>
            <a:ext cx="157276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4/5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83880" y="3410712"/>
            <a:ext cx="36118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20456" y="3442716"/>
            <a:ext cx="353872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262D34"/>
                </a:solidFill>
                <a:latin typeface="Aptos"/>
              </a:rPr>
              <a:t>Experimental is feasible; Design Science needs artifact development/evaluation; Case Study needs contextual access and fieldwork.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922776"/>
            <a:ext cx="2423160" cy="512064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9496" y="3954780"/>
            <a:ext cx="235000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62D34"/>
                </a:solidFill>
                <a:latin typeface="Aptos"/>
              </a:rPr>
              <a:t>C · Contribution type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80" y="3922776"/>
            <a:ext cx="594360" cy="512064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962656" y="3954780"/>
            <a:ext cx="52120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20439" y="3922776"/>
            <a:ext cx="1508760" cy="512064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557015" y="3954780"/>
            <a:ext cx="1435607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3/5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3922776"/>
            <a:ext cx="1508760" cy="512064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65776" y="3954780"/>
            <a:ext cx="1435607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2/5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37959" y="3922776"/>
            <a:ext cx="1645920" cy="512064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74536" y="3954780"/>
            <a:ext cx="157276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5/5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83880" y="3922776"/>
            <a:ext cx="3611880" cy="512064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20456" y="3954780"/>
            <a:ext cx="353872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262D34"/>
                </a:solidFill>
                <a:latin typeface="Aptos"/>
              </a:rPr>
              <a:t>Experimental produces empirical evidence; Case Study contextual knowledge; Design Science produces and evaluates the Framework.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4434840"/>
            <a:ext cx="24231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39496" y="4466844"/>
            <a:ext cx="235000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62D34"/>
                </a:solidFill>
                <a:latin typeface="Aptos"/>
              </a:rPr>
              <a:t>V · Venue fit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26080" y="4434840"/>
            <a:ext cx="5943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962656" y="4466844"/>
            <a:ext cx="52120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15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20439" y="4434840"/>
            <a:ext cx="15087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557015" y="4466844"/>
            <a:ext cx="1435607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5/5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4434840"/>
            <a:ext cx="15087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65776" y="4466844"/>
            <a:ext cx="1435607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3/5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37959" y="4434840"/>
            <a:ext cx="16459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74536" y="4466844"/>
            <a:ext cx="157276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62D34"/>
                </a:solidFill>
                <a:latin typeface="Aptos"/>
              </a:rPr>
              <a:t>5/5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83880" y="4434840"/>
            <a:ext cx="36118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220456" y="4466844"/>
            <a:ext cx="3538728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262D34"/>
                </a:solidFill>
                <a:latin typeface="Aptos"/>
              </a:rPr>
              <a:t>Target transportation, data/AI and design-science venues can accommodate experimental and artifact-based research.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4946904"/>
            <a:ext cx="2423160" cy="457200"/>
          </a:xfrm>
          <a:prstGeom prst="rect">
            <a:avLst/>
          </a:prstGeom>
          <a:solidFill>
            <a:srgbClr val="FAE2E2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76072" y="5010912"/>
            <a:ext cx="226771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C0006"/>
                </a:solidFill>
                <a:latin typeface="Aptos"/>
              </a:rPr>
              <a:t>GATE (E ≤ 2 eliminates)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20440" y="4946904"/>
            <a:ext cx="1508760" cy="457200"/>
          </a:xfrm>
          <a:prstGeom prst="rect">
            <a:avLst/>
          </a:prstGeom>
          <a:solidFill>
            <a:srgbClr val="E1F1E5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547872" y="5020056"/>
            <a:ext cx="145389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1"/>
                </a:solidFill>
                <a:latin typeface="Aptos"/>
              </a:rPr>
              <a:t>SURVIVES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0" y="4946904"/>
            <a:ext cx="1508760" cy="457200"/>
          </a:xfrm>
          <a:prstGeom prst="rect">
            <a:avLst/>
          </a:prstGeom>
          <a:solidFill>
            <a:srgbClr val="FAE2E2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56632" y="5020056"/>
            <a:ext cx="145389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1"/>
                </a:solidFill>
                <a:latin typeface="Aptos"/>
              </a:rPr>
              <a:t>ELIMINATED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37960" y="4946904"/>
            <a:ext cx="1645920" cy="457200"/>
          </a:xfrm>
          <a:prstGeom prst="rect">
            <a:avLst/>
          </a:prstGeom>
          <a:solidFill>
            <a:srgbClr val="E1F1E5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565392" y="5020056"/>
            <a:ext cx="159105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1"/>
                </a:solidFill>
                <a:latin typeface="Aptos"/>
              </a:rPr>
              <a:t>SURVIVES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75320" y="4946904"/>
            <a:ext cx="342900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66760" y="5020056"/>
            <a:ext cx="3246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6F192A"/>
                </a:solidFill>
                <a:latin typeface="Aptos"/>
              </a:rPr>
              <a:t>Apply the gate BEFORE totaling anything.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5458968"/>
            <a:ext cx="2423160" cy="411480"/>
          </a:xfrm>
          <a:prstGeom prst="rect">
            <a:avLst/>
          </a:prstGeom>
          <a:solidFill>
            <a:srgbClr val="F4F6F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76072" y="5513832"/>
            <a:ext cx="2267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92D41"/>
                </a:solidFill>
                <a:latin typeface="Aptos"/>
              </a:rPr>
              <a:t>Raw total (of 25)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520440" y="5458968"/>
            <a:ext cx="147218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953814" y="5526152"/>
            <a:ext cx="87576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192D41"/>
                </a:solidFill>
                <a:latin typeface="Aptos"/>
              </a:rPr>
              <a:t>22/25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65776" y="5458968"/>
            <a:ext cx="1435607" cy="41148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231915" y="5557838"/>
            <a:ext cx="10838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192D41"/>
                </a:solidFill>
                <a:latin typeface="Aptos"/>
              </a:rPr>
              <a:t>14/25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501384" y="5458968"/>
            <a:ext cx="1645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180809" y="5557709"/>
            <a:ext cx="54310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1"/>
                </a:solidFill>
                <a:latin typeface="Aptos"/>
              </a:rPr>
              <a:t>24/25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275320" y="5458968"/>
            <a:ext cx="3429000" cy="411480"/>
          </a:xfrm>
          <a:prstGeom prst="rect">
            <a:avLst/>
          </a:prstGeom>
          <a:solidFill>
            <a:srgbClr val="FAF4E1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909560" y="5513832"/>
            <a:ext cx="3703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F192A"/>
                </a:solidFill>
                <a:latin typeface="Aptos"/>
              </a:rPr>
              <a:t>Totals confirm. They do not decide.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11480" y="5971032"/>
            <a:ext cx="11201400" cy="658368"/>
          </a:xfrm>
          <a:prstGeom prst="roundRect">
            <a:avLst/>
          </a:prstGeom>
          <a:solidFill>
            <a:srgbClr val="192D41"/>
          </a:solidFill>
          <a:ln>
            <a:solidFill>
              <a:srgbClr val="19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1792" y="6053328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SECTION 3 — WEIGHT AND DEFEND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71800" y="6035040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E = 35   |   D = 20   |   F = 10   |   C = 30   |   V = 5   |   TOTAL = 100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15400" y="6007608"/>
            <a:ext cx="2423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Highest: E — Epistemological fit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15400" y="6281928"/>
            <a:ext cx="2423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EBDCAA"/>
                </a:solidFill>
                <a:latin typeface="Aptos"/>
              </a:rPr>
              <a:t>Lowest: V — Venue fit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298</Words>
  <Application>Microsoft Office PowerPoint</Application>
  <PresentationFormat>Panorámica</PresentationFormat>
  <Paragraphs>63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Evangelista Gamarra, Moisés</cp:lastModifiedBy>
  <cp:revision>2</cp:revision>
  <dcterms:created xsi:type="dcterms:W3CDTF">2013-01-27T09:14:16Z</dcterms:created>
  <dcterms:modified xsi:type="dcterms:W3CDTF">2026-09-18T19:12:43Z</dcterms:modified>
  <cp:category/>
</cp:coreProperties>
</file>